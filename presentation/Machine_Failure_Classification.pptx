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DC3BA4F-8DA6-455A-910A-9C177477FDF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problem: many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failure events,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very few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expert labels,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a need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make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unlabeled data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useful.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93824C-FD2B-4A56-81C4-0DE8D63D84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1AFD74-D894-4139-9756-61808E48B8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 through the analysis flow: explore with clustering, use the labels, improve the representation with feature selection, challenge the semi-supervised assumption against supervised models, then select the final model.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33CDA2-3343-49E4-91A8-D25C8057F7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PCA is exploratory, not proof by itself. Combined with weak clustering scores, it suggests pure clustering is not enough.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6F7691-573D-4F35-9868-A0679DEE22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Even stronger models are only moderate on all 20 sensors, so the feature space itself is probably noisy.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702325-D709-41DA-A501-97835CA05D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each sensor I measured how far apart the class means are on the labeled data, then took the top 5.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40AC08-7074-4D5C-8964-7C9C4C4022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Feature selection clearly helps across all model families. We have not yet tested a fully supervised classifier — does the semi-supervised approach add value?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78AD3C-6D01-4759-BCCF-410C3E845A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Random Forest trained on 39 samples per LOO fold outperforms Label Spreading trained on all 1,600. The semi-supervised framing was not necessary; the top-5 sensors are discriminative enough.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1CCC7B-FD69-4E06-BAFA-AA47FC709D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Random Forest gives both labels and calibrated confidence. The 0.7 threshold surfaces 524 predictions at 85.7% LOO accuracy; 0.8 gives 237 at 100%. Indicative until validated on more labels.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A53161-2A9D-4364-8032-F9B696F3DC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the solution as a decision-support tool for failure analysis teams: faster review, more consistent labeling, gradual improvement.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428E0A-3CC4-421A-AE61-693CB81DA4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Validate the PoC, run a pilot with experts in the loop, then productionize and monitor.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0373D3-7F69-4161-B76F-81068D472B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Don't over-claim 72.5%. Treat it as a promising signal, not a production-ready metric. A majority-class baseline already reaches 50%.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F55365-FCF4-48D3-AC6E-3A3FAE985B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Random Forest on the top-5 sensors delivered the best accuracy and best confidence calibration — a practical workflow for failure triage that improves as more labels are collected.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96E5D4-A95A-4896-B62E-FB52B1D9ADD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914400" y="1919880"/>
            <a:ext cx="1810440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296" strike="noStrike">
                <a:solidFill>
                  <a:srgbClr val="ff7f0e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914400" y="2481840"/>
            <a:ext cx="14715360" cy="17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2222"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6150" spc="-38" strike="noStrike">
                <a:solidFill>
                  <a:srgbClr val="ffffff"/>
                </a:solidFill>
                <a:latin typeface="Gelasio"/>
                <a:ea typeface="Gelasio"/>
              </a:rPr>
              <a:t>Machine Failure Classification from Sensor Data</a:t>
            </a:r>
            <a:endParaRPr b="0" lang="en-US" sz="6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914400" y="4492440"/>
            <a:ext cx="11575800" cy="9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666" lnSpcReduction="20000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2700" spc="-1" strike="noStrike">
                <a:solidFill>
                  <a:srgbClr val="c5d6e6"/>
                </a:solidFill>
                <a:latin typeface="Calibri"/>
                <a:ea typeface="Calibri"/>
              </a:rPr>
              <a:t>A proof of concept for labeling 1,560 unlabeled failures using only 40 labeled examples.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914400" y="6062040"/>
            <a:ext cx="2856960" cy="1342440"/>
          </a:xfrm>
          <a:prstGeom prst="roundRect">
            <a:avLst>
              <a:gd name="adj" fmla="val 85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247760" y="6319080"/>
            <a:ext cx="240912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ff7f0e"/>
                </a:solidFill>
                <a:latin typeface="Calibri"/>
                <a:ea typeface="Calibri"/>
              </a:rPr>
              <a:t>1,600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247760" y="6871680"/>
            <a:ext cx="24091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5d6e6"/>
                </a:solidFill>
                <a:latin typeface="Calibri"/>
                <a:ea typeface="Calibri"/>
              </a:rPr>
              <a:t>failure events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943440" y="6062040"/>
            <a:ext cx="2856960" cy="1342440"/>
          </a:xfrm>
          <a:prstGeom prst="roundRect">
            <a:avLst>
              <a:gd name="adj" fmla="val 85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276800" y="6319080"/>
            <a:ext cx="240912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ff7f0e"/>
                </a:solidFill>
                <a:latin typeface="Calibri"/>
                <a:ea typeface="Calibri"/>
              </a:rPr>
              <a:t>20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276800" y="6871680"/>
            <a:ext cx="24091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5d6e6"/>
                </a:solidFill>
                <a:latin typeface="Calibri"/>
                <a:ea typeface="Calibri"/>
              </a:rPr>
              <a:t>sensors each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972480" y="6062040"/>
            <a:ext cx="2856960" cy="1342440"/>
          </a:xfrm>
          <a:prstGeom prst="roundRect">
            <a:avLst>
              <a:gd name="adj" fmla="val 851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305840" y="6319080"/>
            <a:ext cx="240912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ff7f0e"/>
                </a:solidFill>
                <a:latin typeface="Calibri"/>
                <a:ea typeface="Calibri"/>
              </a:rPr>
              <a:t>3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305840" y="6871680"/>
            <a:ext cx="24091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5d6e6"/>
                </a:solidFill>
                <a:latin typeface="Calibri"/>
                <a:ea typeface="Calibri"/>
              </a:rPr>
              <a:t>failure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14400" y="8091000"/>
            <a:ext cx="1810440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8fa6bd"/>
                </a:solidFill>
                <a:latin typeface="Calibri"/>
                <a:ea typeface="Calibri"/>
              </a:rPr>
              <a:t>Hadar Eliyahu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1356120" y="743040"/>
            <a:ext cx="4566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Problem &amp; Goal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876240" y="42912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152360" y="4138920"/>
            <a:ext cx="1167948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222e"/>
                </a:solidFill>
                <a:latin typeface="Calibri"/>
                <a:ea typeface="Calibri"/>
              </a:rPr>
              <a:t>Dataset: </a:t>
            </a:r>
            <a:r>
              <a:rPr b="0" lang="en-US" sz="2400" spc="-1" strike="noStrike">
                <a:solidFill>
                  <a:srgbClr val="3a4654"/>
                </a:solidFill>
                <a:latin typeface="Calibri"/>
                <a:ea typeface="Calibri"/>
              </a:rPr>
              <a:t>1,600 machine failure events, each represented by 20 sensor measurements.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876240" y="501876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152360" y="4866480"/>
            <a:ext cx="871164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a4654"/>
                </a:solidFill>
                <a:latin typeface="Calibri"/>
                <a:ea typeface="Calibri"/>
              </a:rPr>
              <a:t>Only </a:t>
            </a:r>
            <a:r>
              <a:rPr b="1" lang="en-US" sz="2400" spc="-1" strike="noStrike">
                <a:solidFill>
                  <a:srgbClr val="16222e"/>
                </a:solidFill>
                <a:latin typeface="Calibri"/>
                <a:ea typeface="Calibri"/>
              </a:rPr>
              <a:t>40 failures are labeled</a:t>
            </a:r>
            <a:r>
              <a:rPr b="0" lang="en-US" sz="2400" spc="-1" strike="noStrike">
                <a:solidFill>
                  <a:srgbClr val="3a4654"/>
                </a:solidFill>
                <a:latin typeface="Calibri"/>
                <a:ea typeface="Calibri"/>
              </a:rPr>
              <a:t>; the remaining 1,560 are unlabeled.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876240" y="57463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1152360" y="5594040"/>
            <a:ext cx="84312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a4654"/>
                </a:solidFill>
                <a:latin typeface="Calibri"/>
                <a:ea typeface="Calibri"/>
              </a:rPr>
              <a:t>Known label space in the labeled set: </a:t>
            </a:r>
            <a:r>
              <a:rPr b="1" lang="en-US" sz="2400" spc="-1" strike="noStrike">
                <a:solidFill>
                  <a:srgbClr val="16222e"/>
                </a:solidFill>
                <a:latin typeface="Calibri"/>
                <a:ea typeface="Calibri"/>
              </a:rPr>
              <a:t>3 machine failure types</a:t>
            </a:r>
            <a:r>
              <a:rPr b="0" lang="en-US" sz="2400" spc="-1" strike="noStrike">
                <a:solidFill>
                  <a:srgbClr val="3a4654"/>
                </a:solidFill>
                <a:latin typeface="Calibri"/>
                <a:ea typeface="Calibri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876240" y="647388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1152360" y="6321600"/>
            <a:ext cx="1348776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222e"/>
                </a:solidFill>
                <a:latin typeface="Calibri"/>
                <a:ea typeface="Calibri"/>
              </a:rPr>
              <a:t>Goal: </a:t>
            </a:r>
            <a:r>
              <a:rPr b="0" lang="en-US" sz="2400" spc="-1" strike="noStrike">
                <a:solidFill>
                  <a:srgbClr val="3a4654"/>
                </a:solidFill>
                <a:latin typeface="Calibri"/>
                <a:ea typeface="Calibri"/>
              </a:rPr>
              <a:t>assign labels to the unlabeled failures and surface a high-confidence subset for expert review.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876240" y="72018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1152360" y="7049160"/>
            <a:ext cx="110466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3888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222e"/>
                </a:solidFill>
                <a:latin typeface="Calibri"/>
                <a:ea typeface="Calibri"/>
              </a:rPr>
              <a:t>Success criterion for the PoC: </a:t>
            </a:r>
            <a:r>
              <a:rPr b="0" lang="en-US" sz="2400" spc="-1" strike="noStrike">
                <a:solidFill>
                  <a:srgbClr val="3a4654"/>
                </a:solidFill>
                <a:latin typeface="Calibri"/>
                <a:ea typeface="Calibri"/>
              </a:rPr>
              <a:t>a useful review workflow, not perfect classification.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876240" y="148608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876240" y="8287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356120" y="609480"/>
            <a:ext cx="5691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Approach Overview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15600960" y="79524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2857680" y="3171960"/>
            <a:ext cx="513720" cy="51372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2819520" y="3171960"/>
            <a:ext cx="5896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3619440" y="3072960"/>
            <a:ext cx="89434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Explore the data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3619440" y="3463560"/>
            <a:ext cx="894348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6b7787"/>
                </a:solidFill>
                <a:latin typeface="Calibri"/>
                <a:ea typeface="Calibri"/>
              </a:rPr>
              <a:t>Start with unsupervised clustering to check whether failure types naturally separate.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2498760" y="3880080"/>
            <a:ext cx="135468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b7c4d2"/>
                </a:solidFill>
                <a:latin typeface="Calibri"/>
                <a:ea typeface="Calibri"/>
              </a:rPr>
              <a:t>↓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2857680" y="4321800"/>
            <a:ext cx="513720" cy="51372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2819520" y="4321800"/>
            <a:ext cx="5896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3619440" y="4223160"/>
            <a:ext cx="107211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Use the available labels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3619440" y="4613760"/>
            <a:ext cx="10721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6b7787"/>
                </a:solidFill>
                <a:latin typeface="Calibri"/>
                <a:ea typeface="Calibri"/>
              </a:rPr>
              <a:t>When clustering proved weak, evaluate label-guided approaches using the 40 expert-labeled failures.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2498760" y="5030280"/>
            <a:ext cx="135468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b7c4d2"/>
                </a:solidFill>
                <a:latin typeface="Calibri"/>
                <a:ea typeface="Calibri"/>
              </a:rPr>
              <a:t>↓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2857680" y="5472000"/>
            <a:ext cx="513720" cy="51372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2819520" y="5472000"/>
            <a:ext cx="5896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3619440" y="5373360"/>
            <a:ext cx="74862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Improve the representation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3619440" y="5763960"/>
            <a:ext cx="748620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6b7787"/>
                </a:solidFill>
                <a:latin typeface="Calibri"/>
                <a:ea typeface="Calibri"/>
              </a:rPr>
              <a:t>Reduce the feature space by selecting the most discriminative sensors.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2498760" y="6180480"/>
            <a:ext cx="135468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b7c4d2"/>
                </a:solidFill>
                <a:latin typeface="Calibri"/>
                <a:ea typeface="Calibri"/>
              </a:rPr>
              <a:t>↓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2857680" y="6622200"/>
            <a:ext cx="513720" cy="51372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2819520" y="6622200"/>
            <a:ext cx="5896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3619440" y="6523560"/>
            <a:ext cx="113036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Challenge the assumption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3619440" y="6913800"/>
            <a:ext cx="11303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6b7787"/>
                </a:solidFill>
                <a:latin typeface="Calibri"/>
                <a:ea typeface="Calibri"/>
              </a:rPr>
              <a:t>Compare supervised and semi-supervised models on the selected features using the same LOO evaluation.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2498760" y="7330680"/>
            <a:ext cx="135468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b7c4d2"/>
                </a:solidFill>
                <a:latin typeface="Calibri"/>
                <a:ea typeface="Calibri"/>
              </a:rPr>
              <a:t>↓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4"/>
          <p:cNvSpPr/>
          <p:nvPr/>
        </p:nvSpPr>
        <p:spPr>
          <a:xfrm>
            <a:off x="2857680" y="7772400"/>
            <a:ext cx="513720" cy="51372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2819520" y="7772400"/>
            <a:ext cx="58968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3619440" y="7673400"/>
            <a:ext cx="85586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Select the final solution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3619440" y="8064000"/>
            <a:ext cx="8558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6b7787"/>
                </a:solidFill>
                <a:latin typeface="Calibri"/>
                <a:ea typeface="Calibri"/>
              </a:rPr>
              <a:t>Choose the best-performing model and apply it to classify the unlabeled failures.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1356120" y="743040"/>
            <a:ext cx="7610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Raw Clustering Was Weak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876240" y="2448720"/>
            <a:ext cx="8940240" cy="6674760"/>
          </a:xfrm>
          <a:prstGeom prst="roundRect">
            <a:avLst>
              <a:gd name="adj" fmla="val 1712"/>
            </a:avLst>
          </a:prstGeom>
          <a:noFill/>
          <a:ln w="9525">
            <a:solidFill>
              <a:srgbClr val="d8e2ec"/>
            </a:solidFill>
            <a:round/>
          </a:ln>
          <a:effectLst>
            <a:outerShdw algn="bl" blurRad="28440" dir="5400000" dist="93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885960" y="2458080"/>
            <a:ext cx="8921160" cy="6655680"/>
          </a:xfrm>
          <a:prstGeom prst="rect">
            <a:avLst/>
          </a:prstGeom>
          <a:ln w="0">
            <a:noFill/>
          </a:ln>
        </p:spPr>
      </p:pic>
      <p:sp>
        <p:nvSpPr>
          <p:cNvPr id="69" name="Shape 5"/>
          <p:cNvSpPr/>
          <p:nvPr/>
        </p:nvSpPr>
        <p:spPr>
          <a:xfrm>
            <a:off x="10274400" y="39866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10531440" y="3853440"/>
            <a:ext cx="708588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PCA on the labeled failures shows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no clean separation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between the 3 labels.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10274400" y="50353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10531440" y="4902120"/>
            <a:ext cx="708588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Unsupervised baselines gave very low silhouette scores: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KMeans 0.035, Agglomerative 0.012, GMM 0.028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10274400" y="60840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10531440" y="5950800"/>
            <a:ext cx="708588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Conclusion: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the raw 20-sensor space is not naturally separable with pure clustering.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10274400" y="7056360"/>
            <a:ext cx="73508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aa6b4"/>
                </a:solidFill>
                <a:latin typeface="Calibri"/>
                <a:ea typeface="Calibri"/>
              </a:rPr>
              <a:t>Silhouette scores near 0 indicate the data does not split into distinct clusters in the original sensor space.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1356120" y="743040"/>
            <a:ext cx="6810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Label-Guided Baselines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876240" y="445788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1133640" y="4324320"/>
            <a:ext cx="738216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I used the 40 labeled failures to evaluate label-guided models.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876240" y="55339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1133640" y="5400720"/>
            <a:ext cx="738216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None of the models 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reached satisfactory performance — all scored below 0.5.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876240" y="66103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1133640" y="6477120"/>
            <a:ext cx="738216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Hypothesis: 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some sensors may add noise rather than useful information.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8872560" y="4257720"/>
            <a:ext cx="8538120" cy="3114000"/>
          </a:xfrm>
          <a:prstGeom prst="roundRect">
            <a:avLst>
              <a:gd name="adj" fmla="val 4281"/>
            </a:avLst>
          </a:prstGeom>
          <a:solidFill>
            <a:srgbClr val="f0f5f9"/>
          </a:solidFill>
          <a:ln w="9525">
            <a:solidFill>
              <a:srgbClr val="d8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9244080" y="4591080"/>
            <a:ext cx="85748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69" strike="noStrike">
                <a:solidFill>
                  <a:srgbClr val="9aa6b4"/>
                </a:solidFill>
                <a:latin typeface="Calibri"/>
                <a:ea typeface="Calibri"/>
              </a:rPr>
              <a:t>LEAVE-ONE-OUT ACCURACY · 40 LABELED FAILURES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9244080" y="5095800"/>
            <a:ext cx="24091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20" spc="-1" strike="noStrike">
                <a:solidFill>
                  <a:srgbClr val="3a4654"/>
                </a:solidFill>
                <a:latin typeface="Calibri"/>
                <a:ea typeface="Calibri"/>
              </a:rPr>
              <a:t>kNN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11625480" y="5119560"/>
            <a:ext cx="4423320" cy="266040"/>
          </a:xfrm>
          <a:prstGeom prst="roundRect">
            <a:avLst>
              <a:gd name="adj" fmla="val 14286"/>
            </a:avLst>
          </a:prstGeom>
          <a:solidFill>
            <a:srgbClr val="e2ea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4"/>
          <p:cNvSpPr/>
          <p:nvPr/>
        </p:nvSpPr>
        <p:spPr>
          <a:xfrm>
            <a:off x="11625480" y="5119560"/>
            <a:ext cx="2034360" cy="266040"/>
          </a:xfrm>
          <a:prstGeom prst="roundRect">
            <a:avLst>
              <a:gd name="adj" fmla="val 14286"/>
            </a:avLst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16164000" y="5105520"/>
            <a:ext cx="8755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16222e"/>
                </a:solidFill>
                <a:latin typeface="Calibri"/>
                <a:ea typeface="Calibri"/>
              </a:rPr>
              <a:t>0.23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9244080" y="5638680"/>
            <a:ext cx="24091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20" spc="-1" strike="noStrike">
                <a:solidFill>
                  <a:srgbClr val="3a4654"/>
                </a:solidFill>
                <a:latin typeface="Calibri"/>
                <a:ea typeface="Calibri"/>
              </a:rPr>
              <a:t>Centroid-based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7"/>
          <p:cNvSpPr/>
          <p:nvPr/>
        </p:nvSpPr>
        <p:spPr>
          <a:xfrm>
            <a:off x="11625480" y="5662440"/>
            <a:ext cx="4423320" cy="266040"/>
          </a:xfrm>
          <a:prstGeom prst="roundRect">
            <a:avLst>
              <a:gd name="adj" fmla="val 14286"/>
            </a:avLst>
          </a:prstGeom>
          <a:solidFill>
            <a:srgbClr val="e2ea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11625480" y="5662440"/>
            <a:ext cx="2919240" cy="266040"/>
          </a:xfrm>
          <a:prstGeom prst="roundRect">
            <a:avLst>
              <a:gd name="adj" fmla="val 14286"/>
            </a:avLst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16164000" y="5648400"/>
            <a:ext cx="8755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16222e"/>
                </a:solidFill>
                <a:latin typeface="Calibri"/>
                <a:ea typeface="Calibri"/>
              </a:rPr>
              <a:t>0.33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9244080" y="6181560"/>
            <a:ext cx="24091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20" spc="-1" strike="noStrike">
                <a:solidFill>
                  <a:srgbClr val="3a4654"/>
                </a:solidFill>
                <a:latin typeface="Calibri"/>
                <a:ea typeface="Calibri"/>
              </a:rPr>
              <a:t>Label Spreading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1"/>
          <p:cNvSpPr/>
          <p:nvPr/>
        </p:nvSpPr>
        <p:spPr>
          <a:xfrm>
            <a:off x="11625480" y="6205680"/>
            <a:ext cx="4423320" cy="266040"/>
          </a:xfrm>
          <a:prstGeom prst="roundRect">
            <a:avLst>
              <a:gd name="adj" fmla="val 14286"/>
            </a:avLst>
          </a:prstGeom>
          <a:solidFill>
            <a:srgbClr val="e2ea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2"/>
          <p:cNvSpPr/>
          <p:nvPr/>
        </p:nvSpPr>
        <p:spPr>
          <a:xfrm>
            <a:off x="11625480" y="6205680"/>
            <a:ext cx="3759840" cy="266040"/>
          </a:xfrm>
          <a:prstGeom prst="roundRect">
            <a:avLst>
              <a:gd name="adj" fmla="val 14286"/>
            </a:avLst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16164000" y="6191280"/>
            <a:ext cx="8755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16222e"/>
                </a:solidFill>
                <a:latin typeface="Calibri"/>
                <a:ea typeface="Calibri"/>
              </a:rPr>
              <a:t>0.425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4"/>
          <p:cNvSpPr/>
          <p:nvPr/>
        </p:nvSpPr>
        <p:spPr>
          <a:xfrm>
            <a:off x="9244080" y="6724800"/>
            <a:ext cx="24091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6222e"/>
                </a:solidFill>
                <a:latin typeface="Calibri"/>
                <a:ea typeface="Calibri"/>
              </a:rPr>
              <a:t>Weighted kNN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5"/>
          <p:cNvSpPr/>
          <p:nvPr/>
        </p:nvSpPr>
        <p:spPr>
          <a:xfrm>
            <a:off x="11625480" y="6748560"/>
            <a:ext cx="4423320" cy="266040"/>
          </a:xfrm>
          <a:prstGeom prst="roundRect">
            <a:avLst>
              <a:gd name="adj" fmla="val 14286"/>
            </a:avLst>
          </a:prstGeom>
          <a:solidFill>
            <a:srgbClr val="e2ea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6"/>
          <p:cNvSpPr/>
          <p:nvPr/>
        </p:nvSpPr>
        <p:spPr>
          <a:xfrm>
            <a:off x="11625480" y="6748560"/>
            <a:ext cx="3980880" cy="266040"/>
          </a:xfrm>
          <a:prstGeom prst="roundRect">
            <a:avLst>
              <a:gd name="adj" fmla="val 14286"/>
            </a:avLst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7"/>
          <p:cNvSpPr/>
          <p:nvPr/>
        </p:nvSpPr>
        <p:spPr>
          <a:xfrm>
            <a:off x="16164000" y="6734160"/>
            <a:ext cx="8755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0" spc="-1" strike="noStrike">
                <a:solidFill>
                  <a:srgbClr val="1f77b4"/>
                </a:solidFill>
                <a:latin typeface="Calibri"/>
                <a:ea typeface="Calibri"/>
              </a:rPr>
              <a:t>0.45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1356120" y="743040"/>
            <a:ext cx="5057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Feature Selection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876240" y="3422880"/>
            <a:ext cx="9522720" cy="4726440"/>
          </a:xfrm>
          <a:prstGeom prst="roundRect">
            <a:avLst>
              <a:gd name="adj" fmla="val 2418"/>
            </a:avLst>
          </a:prstGeom>
          <a:noFill/>
          <a:ln w="9525">
            <a:solidFill>
              <a:srgbClr val="d8e2ec"/>
            </a:solidFill>
            <a:round/>
          </a:ln>
          <a:effectLst>
            <a:outerShdw algn="bl" blurRad="28440" dir="5400000" dist="93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885960" y="3432600"/>
            <a:ext cx="9503640" cy="4707360"/>
          </a:xfrm>
          <a:prstGeom prst="rect">
            <a:avLst/>
          </a:prstGeom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10856880" y="442908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11114280" y="4295880"/>
            <a:ext cx="648576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I ranked sensors by how much their </a:t>
            </a: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mean values differ 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across the known labels.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10856880" y="550548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11114280" y="5372280"/>
            <a:ext cx="648576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Top 5 sensors: 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Sensor 9, Sensor 0, Sensor 8, Sensor 18, Sensor 2.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10856880" y="658188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11114280" y="6448320"/>
            <a:ext cx="648576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Idea: reduce noise and keep the sensors with the strongest label signal.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06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1356120" y="743040"/>
            <a:ext cx="5524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Model Comparison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14630400" y="928800"/>
            <a:ext cx="30589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ALL 20 vs TOP 5 SENSORS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876240" y="3204360"/>
            <a:ext cx="9386280" cy="5163480"/>
          </a:xfrm>
          <a:prstGeom prst="roundRect">
            <a:avLst>
              <a:gd name="adj" fmla="val 2213"/>
            </a:avLst>
          </a:prstGeom>
          <a:noFill/>
          <a:ln w="9525">
            <a:solidFill>
              <a:srgbClr val="d8e2ec"/>
            </a:solidFill>
            <a:round/>
          </a:ln>
          <a:effectLst>
            <a:outerShdw algn="bl" blurRad="28440" dir="5400000" dist="93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885960" y="3214080"/>
            <a:ext cx="9367200" cy="5144400"/>
          </a:xfrm>
          <a:prstGeom prst="rect">
            <a:avLst/>
          </a:prstGeom>
          <a:ln w="0">
            <a:noFill/>
          </a:ln>
        </p:spPr>
      </p:pic>
      <p:sp>
        <p:nvSpPr>
          <p:cNvPr id="122" name="Shape 5"/>
          <p:cNvSpPr/>
          <p:nvPr/>
        </p:nvSpPr>
        <p:spPr>
          <a:xfrm>
            <a:off x="10720440" y="42516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10977480" y="4127760"/>
            <a:ext cx="64836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Feature selection improved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all three model families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10720440" y="48805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10977480" y="4756680"/>
            <a:ext cx="2860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Centroid: 0.33 → </a:t>
            </a:r>
            <a:r>
              <a:rPr b="1" lang="en-US" sz="2170" spc="-1" strike="noStrike">
                <a:solidFill>
                  <a:srgbClr val="1f77b4"/>
                </a:solidFill>
                <a:latin typeface="Calibri"/>
                <a:ea typeface="Calibri"/>
              </a:rPr>
              <a:t>0.475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10720440" y="55098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10977480" y="5385960"/>
            <a:ext cx="3586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Weighted kNN: 0.45 → </a:t>
            </a:r>
            <a:r>
              <a:rPr b="1" lang="en-US" sz="2170" spc="-1" strike="noStrike">
                <a:solidFill>
                  <a:srgbClr val="1f77b4"/>
                </a:solidFill>
                <a:latin typeface="Calibri"/>
                <a:ea typeface="Calibri"/>
              </a:rPr>
              <a:t>0.475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10720440" y="61387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10977480" y="6014880"/>
            <a:ext cx="3904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Label Spreading: 0.425 → </a:t>
            </a:r>
            <a:r>
              <a:rPr b="1" lang="en-US" sz="2170" spc="-1" strike="noStrike">
                <a:solidFill>
                  <a:srgbClr val="1f77b4"/>
                </a:solidFill>
                <a:latin typeface="Calibri"/>
                <a:ea typeface="Calibri"/>
              </a:rPr>
              <a:t>0.525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10720440" y="67680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10977480" y="6644160"/>
            <a:ext cx="662652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Best semi-supervised model: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Label Spreading (0.525)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— supervised baselines tested next.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1356120" y="743040"/>
            <a:ext cx="61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Supervised Baselines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14425200" y="928800"/>
            <a:ext cx="32842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THE MISSING COMPARISON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876240" y="21146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1133640" y="1990800"/>
            <a:ext cx="145191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Before finalizing model selection, I tested fully supervised classifiers on the top-5 sensors using the same leave-one-out protocol.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876240" y="3077640"/>
            <a:ext cx="16534800" cy="2332800"/>
          </a:xfrm>
          <a:prstGeom prst="roundRect">
            <a:avLst>
              <a:gd name="adj" fmla="val 5714"/>
            </a:avLst>
          </a:prstGeom>
          <a:solidFill>
            <a:srgbClr val="f0f5f9"/>
          </a:solidFill>
          <a:ln w="9525">
            <a:solidFill>
              <a:srgbClr val="d8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885960" y="3744360"/>
            <a:ext cx="1651572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1209600" y="3277440"/>
            <a:ext cx="60706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69" strike="noStrike">
                <a:solidFill>
                  <a:srgbClr val="9aa6b4"/>
                </a:solidFill>
                <a:latin typeface="Calibri"/>
                <a:ea typeface="Calibri"/>
              </a:rPr>
              <a:t>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6384240" y="3277440"/>
            <a:ext cx="37940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69" strike="noStrike">
                <a:solidFill>
                  <a:srgbClr val="9aa6b4"/>
                </a:solidFill>
                <a:latin typeface="Calibri"/>
                <a:ea typeface="Calibri"/>
              </a:rPr>
              <a:t>ACCURACY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9833760" y="3277440"/>
            <a:ext cx="37940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69" strike="noStrike">
                <a:solidFill>
                  <a:srgbClr val="9aa6b4"/>
                </a:solidFill>
                <a:latin typeface="Calibri"/>
                <a:ea typeface="Calibri"/>
              </a:rPr>
              <a:t>BALANCED ACC.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13283640" y="3277440"/>
            <a:ext cx="37940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69" strike="noStrike">
                <a:solidFill>
                  <a:srgbClr val="9aa6b4"/>
                </a:solidFill>
                <a:latin typeface="Calibri"/>
                <a:ea typeface="Calibri"/>
              </a:rPr>
              <a:t>MACRO F1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885960" y="3753720"/>
            <a:ext cx="16515720" cy="82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885960" y="4572720"/>
            <a:ext cx="16515720" cy="8640"/>
          </a:xfrm>
          <a:prstGeom prst="rect">
            <a:avLst/>
          </a:prstGeom>
          <a:solidFill>
            <a:srgbClr val="e7ee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1209600" y="3982320"/>
            <a:ext cx="60706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Logistic Regression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384240" y="3982320"/>
            <a:ext cx="37940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0.600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9833760" y="3982320"/>
            <a:ext cx="37940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0.550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13283640" y="3982320"/>
            <a:ext cx="37940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0.564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885960" y="4582440"/>
            <a:ext cx="16515720" cy="818280"/>
          </a:xfrm>
          <a:prstGeom prst="rect">
            <a:avLst/>
          </a:prstGeom>
          <a:solidFill>
            <a:srgbClr val="e6f0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1209600" y="4811040"/>
            <a:ext cx="60706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Random Forest </a:t>
            </a:r>
            <a:r>
              <a:rPr b="1" lang="en-US" sz="1800" spc="-1" strike="noStrike">
                <a:solidFill>
                  <a:srgbClr val="1f77b4"/>
                </a:solidFill>
                <a:latin typeface="Calibri"/>
                <a:ea typeface="Calibri"/>
              </a:rPr>
              <a:t>SELECTED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6384240" y="4811040"/>
            <a:ext cx="37940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f77b4"/>
                </a:solidFill>
                <a:latin typeface="Calibri"/>
                <a:ea typeface="Calibri"/>
              </a:rPr>
              <a:t>0.725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9833760" y="4811040"/>
            <a:ext cx="37940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f77b4"/>
                </a:solidFill>
                <a:latin typeface="Calibri"/>
                <a:ea typeface="Calibri"/>
              </a:rPr>
              <a:t>0.717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13283640" y="4811040"/>
            <a:ext cx="37940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f77b4"/>
                </a:solidFill>
                <a:latin typeface="Calibri"/>
                <a:ea typeface="Calibri"/>
              </a:rPr>
              <a:t>0.723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3"/>
          <p:cNvSpPr/>
          <p:nvPr/>
        </p:nvSpPr>
        <p:spPr>
          <a:xfrm>
            <a:off x="876240" y="58208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1133640" y="5697000"/>
            <a:ext cx="727848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3a4654"/>
                </a:solidFill>
                <a:latin typeface="Calibri"/>
                <a:ea typeface="Calibri"/>
              </a:rPr>
              <a:t>Both </a:t>
            </a:r>
            <a:r>
              <a:rPr b="1" lang="en-US" sz="2100" spc="-1" strike="noStrike">
                <a:solidFill>
                  <a:srgbClr val="16222e"/>
                </a:solidFill>
                <a:latin typeface="Calibri"/>
                <a:ea typeface="Calibri"/>
              </a:rPr>
              <a:t>outperformed Label Spreading (0.525) </a:t>
            </a:r>
            <a:r>
              <a:rPr b="0" lang="en-US" sz="2100" spc="-1" strike="noStrike">
                <a:solidFill>
                  <a:srgbClr val="3a4654"/>
                </a:solidFill>
                <a:latin typeface="Calibri"/>
                <a:ea typeface="Calibri"/>
              </a:rPr>
              <a:t>on every metric.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5"/>
          <p:cNvSpPr/>
          <p:nvPr/>
        </p:nvSpPr>
        <p:spPr>
          <a:xfrm>
            <a:off x="876240" y="63788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6"/>
          <p:cNvSpPr/>
          <p:nvPr/>
        </p:nvSpPr>
        <p:spPr>
          <a:xfrm>
            <a:off x="1133640" y="6255000"/>
            <a:ext cx="1237248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3a4654"/>
                </a:solidFill>
                <a:latin typeface="Calibri"/>
                <a:ea typeface="Calibri"/>
              </a:rPr>
              <a:t>Random Forest achieved the </a:t>
            </a:r>
            <a:r>
              <a:rPr b="1" lang="en-US" sz="2100" spc="-1" strike="noStrike">
                <a:solidFill>
                  <a:srgbClr val="16222e"/>
                </a:solidFill>
                <a:latin typeface="Calibri"/>
                <a:ea typeface="Calibri"/>
              </a:rPr>
              <a:t>strongest observed LOO performance </a:t>
            </a:r>
            <a:r>
              <a:rPr b="0" lang="en-US" sz="2100" spc="-1" strike="noStrike">
                <a:solidFill>
                  <a:srgbClr val="3a4654"/>
                </a:solidFill>
                <a:latin typeface="Calibri"/>
                <a:ea typeface="Calibri"/>
              </a:rPr>
              <a:t>and was selected as the final model.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08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356120" y="743040"/>
            <a:ext cx="3671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Final Output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4365080" y="928800"/>
            <a:ext cx="33505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1,560 UNLABELED FAILURES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876240" y="3458520"/>
            <a:ext cx="9386280" cy="4654800"/>
          </a:xfrm>
          <a:prstGeom prst="roundRect">
            <a:avLst>
              <a:gd name="adj" fmla="val 2455"/>
            </a:avLst>
          </a:prstGeom>
          <a:noFill/>
          <a:ln w="9525">
            <a:solidFill>
              <a:srgbClr val="d8e2ec"/>
            </a:solidFill>
            <a:round/>
          </a:ln>
          <a:effectLst>
            <a:outerShdw algn="bl" blurRad="28440" dir="5400000" dist="93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0" descr="preencoded.png"/>
          <p:cNvPicPr/>
          <p:nvPr/>
        </p:nvPicPr>
        <p:blipFill>
          <a:blip r:embed="rId1"/>
          <a:stretch/>
        </p:blipFill>
        <p:spPr>
          <a:xfrm>
            <a:off x="885960" y="3468240"/>
            <a:ext cx="9367200" cy="4635720"/>
          </a:xfrm>
          <a:prstGeom prst="rect">
            <a:avLst/>
          </a:prstGeom>
          <a:ln w="0">
            <a:noFill/>
          </a:ln>
        </p:spPr>
      </p:pic>
      <p:sp>
        <p:nvSpPr>
          <p:cNvPr id="165" name="Shape 5"/>
          <p:cNvSpPr/>
          <p:nvPr/>
        </p:nvSpPr>
        <p:spPr>
          <a:xfrm>
            <a:off x="10720440" y="43657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10977480" y="4241880"/>
            <a:ext cx="662652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Final model: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Random Forest trained on 40 labeled failures (top 5 sensors).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10720440" y="53953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10977480" y="5271480"/>
            <a:ext cx="57276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Assigned labels to all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1,560 unlabeled failures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10720440" y="60246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10977480" y="5900760"/>
            <a:ext cx="63835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524 high-confidence predictions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(confidence ≥ 0.7).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10720440" y="66535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0979640" y="6603840"/>
            <a:ext cx="65923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3a4654"/>
                </a:solidFill>
                <a:latin typeface="Calibri"/>
                <a:ea typeface="Calibri"/>
              </a:rPr>
              <a:t>LOO validation showed that</a:t>
            </a:r>
            <a:r>
              <a:rPr b="1" lang="en-US" sz="1800" spc="-1" strike="noStrike">
                <a:solidFill>
                  <a:srgbClr val="3a4654"/>
                </a:solidFill>
                <a:latin typeface="Calibri"/>
                <a:ea typeface="Calibri"/>
              </a:rPr>
              <a:t> higher confidence</a:t>
            </a:r>
            <a:r>
              <a:rPr b="0" lang="en-US" sz="1800" spc="-1" strike="noStrike">
                <a:solidFill>
                  <a:srgbClr val="3a4654"/>
                </a:solidFill>
                <a:latin typeface="Calibri"/>
                <a:ea typeface="Calibri"/>
              </a:rPr>
              <a:t> corresponded to </a:t>
            </a:r>
            <a:r>
              <a:rPr b="1" lang="en-US" sz="1800" spc="-1" strike="noStrike">
                <a:solidFill>
                  <a:srgbClr val="3a4654"/>
                </a:solidFill>
                <a:latin typeface="Calibri"/>
                <a:ea typeface="Calibri"/>
              </a:rPr>
              <a:t>higher accuracy</a:t>
            </a:r>
            <a:r>
              <a:rPr b="0" lang="en-US" sz="1800" spc="-1" strike="noStrike">
                <a:solidFill>
                  <a:srgbClr val="3a4654"/>
                </a:solidFill>
                <a:latin typeface="Calibri"/>
                <a:ea typeface="Calibri"/>
              </a:rPr>
              <a:t> (e.g., confidence ≥ 0.8 achieved 100% accuracy on test set).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1017440" y="7862040"/>
            <a:ext cx="659232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3a4654"/>
                </a:solidFill>
                <a:latin typeface="Calibri"/>
                <a:ea typeface="Calibri"/>
              </a:rPr>
              <a:t>Experts can choose the confidence threshold based on the desired trade-off between coverage and accuracy.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10720440" y="60246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10755720" y="793116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09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1356120" y="743040"/>
            <a:ext cx="6717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Value for the Customer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876240" y="44114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1152360" y="4268520"/>
            <a:ext cx="1351620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Example customer: </a:t>
            </a: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a manufacturer with many machine failure logs and limited expert review capacity.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876240" y="506808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1152360" y="4925160"/>
            <a:ext cx="102193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The model can suggest a likely </a:t>
            </a: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failure type </a:t>
            </a: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for each new machine breakdown.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876240" y="57247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1152360" y="5581800"/>
            <a:ext cx="106963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High-confidence cases can be handled faster, while uncertain cases go to </a:t>
            </a: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experts</a:t>
            </a: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.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876240" y="638136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1152360" y="6238440"/>
            <a:ext cx="876060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Experts do not need to manually review every failure from scratch.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876240" y="70380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1152360" y="6895080"/>
            <a:ext cx="933768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Over time, reviewed cases become </a:t>
            </a:r>
            <a:r>
              <a:rPr b="1" lang="en-US" sz="2320" spc="-1" strike="noStrike">
                <a:solidFill>
                  <a:srgbClr val="16222e"/>
                </a:solidFill>
                <a:latin typeface="Calibri"/>
                <a:ea typeface="Calibri"/>
              </a:rPr>
              <a:t>new labels </a:t>
            </a:r>
            <a:r>
              <a:rPr b="0" lang="en-US" sz="2320" spc="-1" strike="noStrike">
                <a:solidFill>
                  <a:srgbClr val="3a4654"/>
                </a:solidFill>
                <a:latin typeface="Calibri"/>
                <a:ea typeface="Calibri"/>
              </a:rPr>
              <a:t>and improve the model.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10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1356120" y="743040"/>
            <a:ext cx="2791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Roadmap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876240" y="2066760"/>
            <a:ext cx="5358600" cy="7476480"/>
          </a:xfrm>
          <a:prstGeom prst="roundRect">
            <a:avLst>
              <a:gd name="adj" fmla="val 2488"/>
            </a:avLst>
          </a:prstGeom>
          <a:solidFill>
            <a:srgbClr val="f0f5f9"/>
          </a:solidFill>
          <a:ln w="9525">
            <a:solidFill>
              <a:srgbClr val="d8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1190520" y="2400480"/>
            <a:ext cx="52030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1f77b4"/>
                </a:solidFill>
                <a:latin typeface="Calibri"/>
                <a:ea typeface="Calibri"/>
              </a:rPr>
              <a:t>PHASE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1190520" y="2771640"/>
            <a:ext cx="5203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70" spc="-1" strike="noStrike">
                <a:solidFill>
                  <a:srgbClr val="16222e"/>
                </a:solidFill>
                <a:latin typeface="Calibri"/>
                <a:ea typeface="Calibri"/>
              </a:rPr>
              <a:t>Validate the PoC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1190520" y="352440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1419120" y="340056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Review a sample of predicted labels with domain experts.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1190520" y="440784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419120" y="428400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Confirm whether the 0.7–0.8 confidence threshold is appropriate.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1190520" y="529164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1419120" y="516780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Finalize the feature set and reporting format.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6464160" y="2066760"/>
            <a:ext cx="5358600" cy="7476480"/>
          </a:xfrm>
          <a:prstGeom prst="roundRect">
            <a:avLst>
              <a:gd name="adj" fmla="val 2488"/>
            </a:avLst>
          </a:prstGeom>
          <a:solidFill>
            <a:srgbClr val="f0f5f9"/>
          </a:solidFill>
          <a:ln w="9525">
            <a:solidFill>
              <a:srgbClr val="d8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6778440" y="2400480"/>
            <a:ext cx="52030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1f77b4"/>
                </a:solidFill>
                <a:latin typeface="Calibri"/>
                <a:ea typeface="Calibri"/>
              </a:rPr>
              <a:t>PHASE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6778440" y="2771640"/>
            <a:ext cx="5203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70" spc="-1" strike="noStrike">
                <a:solidFill>
                  <a:srgbClr val="16222e"/>
                </a:solidFill>
                <a:latin typeface="Calibri"/>
                <a:ea typeface="Calibri"/>
              </a:rPr>
              <a:t>Pilot in a Real Workflow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6778440" y="352440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7007040" y="340056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Score incoming failures regularly and present predictions to experts.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8"/>
          <p:cNvSpPr/>
          <p:nvPr/>
        </p:nvSpPr>
        <p:spPr>
          <a:xfrm>
            <a:off x="6778440" y="440784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7007040" y="428400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Track expert agreement, review time, and confidence distribution.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6778440" y="529164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7007040" y="516780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333" lnSpcReduction="20000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Collect corrected labels from expert feedback.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2"/>
          <p:cNvSpPr/>
          <p:nvPr/>
        </p:nvSpPr>
        <p:spPr>
          <a:xfrm>
            <a:off x="12052080" y="2066760"/>
            <a:ext cx="5358600" cy="7476480"/>
          </a:xfrm>
          <a:prstGeom prst="roundRect">
            <a:avLst>
              <a:gd name="adj" fmla="val 2488"/>
            </a:avLst>
          </a:prstGeom>
          <a:solidFill>
            <a:srgbClr val="f0f5f9"/>
          </a:solidFill>
          <a:ln w="9525">
            <a:solidFill>
              <a:srgbClr val="d8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12366720" y="2400480"/>
            <a:ext cx="52030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1f77b4"/>
                </a:solidFill>
                <a:latin typeface="Calibri"/>
                <a:ea typeface="Calibri"/>
              </a:rPr>
              <a:t>PHASE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12366720" y="2771640"/>
            <a:ext cx="5203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70" spc="-1" strike="noStrike">
                <a:solidFill>
                  <a:srgbClr val="16222e"/>
                </a:solidFill>
                <a:latin typeface="Calibri"/>
                <a:ea typeface="Calibri"/>
              </a:rPr>
              <a:t>Productionize &amp; Improve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5"/>
          <p:cNvSpPr/>
          <p:nvPr/>
        </p:nvSpPr>
        <p:spPr>
          <a:xfrm>
            <a:off x="12366720" y="352440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12595320" y="340056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9999" lnSpcReduction="10000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Retrain periodically with the expanded labeled set.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7"/>
          <p:cNvSpPr/>
          <p:nvPr/>
        </p:nvSpPr>
        <p:spPr>
          <a:xfrm>
            <a:off x="12366720" y="4407840"/>
            <a:ext cx="75600" cy="7560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12595320" y="4284000"/>
            <a:ext cx="4636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3a4654"/>
                </a:solidFill>
                <a:latin typeface="Calibri"/>
                <a:ea typeface="Calibri"/>
              </a:rPr>
              <a:t>Integrate with the customer's maintenance / failure analysis workflow.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11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1356120" y="743040"/>
            <a:ext cx="6012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Caveats &amp; Next Steps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876240" y="2066760"/>
            <a:ext cx="87793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CAVEATS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5"/>
          <p:cNvSpPr/>
          <p:nvPr/>
        </p:nvSpPr>
        <p:spPr>
          <a:xfrm>
            <a:off x="876240" y="27050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1133640" y="2571840"/>
            <a:ext cx="795564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9999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The labeled set is very small: only 40 examples, with class counts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20 / 10 / 10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7"/>
          <p:cNvSpPr/>
          <p:nvPr/>
        </p:nvSpPr>
        <p:spPr>
          <a:xfrm>
            <a:off x="876240" y="37346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1133640" y="3601440"/>
            <a:ext cx="795564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The leave-one-out result should be treated as a useful but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limited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validation check.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876240" y="47642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1133640" y="4631040"/>
            <a:ext cx="795564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A majority-class baseline would already reach </a:t>
            </a:r>
            <a:r>
              <a:rPr b="1" lang="en-US" sz="2170" spc="-1" strike="noStrike">
                <a:solidFill>
                  <a:srgbClr val="16222e"/>
                </a:solidFill>
                <a:latin typeface="Calibri"/>
                <a:ea typeface="Calibri"/>
              </a:rPr>
              <a:t>50% </a:t>
            </a: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accuracy on the labeled subset.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9429840" y="2066760"/>
            <a:ext cx="87793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NEXT STEPS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9429840" y="2705040"/>
            <a:ext cx="84960" cy="8496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9686880" y="2571840"/>
            <a:ext cx="4701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Validate predicted labels with experts.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9429840" y="3334320"/>
            <a:ext cx="84960" cy="8496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9686880" y="3200760"/>
            <a:ext cx="5381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Collect more labels to grow the training set.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9429840" y="3963240"/>
            <a:ext cx="84960" cy="84960"/>
          </a:xfrm>
          <a:prstGeom prst="ellipse">
            <a:avLst/>
          </a:prstGeom>
          <a:solidFill>
            <a:srgbClr val="b7c4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9686880" y="3830040"/>
            <a:ext cx="6834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1111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170" spc="-1" strike="noStrike">
                <a:solidFill>
                  <a:srgbClr val="3a4654"/>
                </a:solidFill>
                <a:latin typeface="Calibri"/>
                <a:ea typeface="Calibri"/>
              </a:rPr>
              <a:t>Re-evaluate the model with a stronger validation setup.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876240" y="1638360"/>
            <a:ext cx="16534800" cy="8640"/>
          </a:xfrm>
          <a:prstGeom prst="rect">
            <a:avLst/>
          </a:prstGeom>
          <a:solidFill>
            <a:srgbClr val="d8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876240" y="961920"/>
            <a:ext cx="345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1f77b4"/>
                </a:solidFill>
                <a:latin typeface="Calibri"/>
                <a:ea typeface="Calibri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1356120" y="743040"/>
            <a:ext cx="2833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50" spc="-15" strike="noStrike">
                <a:solidFill>
                  <a:srgbClr val="1f77b4"/>
                </a:solidFill>
                <a:latin typeface="Gelasio"/>
                <a:ea typeface="Gelasio"/>
              </a:rPr>
              <a:t>Summary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15600960" y="928800"/>
            <a:ext cx="199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145" strike="noStrike">
                <a:solidFill>
                  <a:srgbClr val="9aa6b4"/>
                </a:solidFill>
                <a:latin typeface="Calibri"/>
                <a:ea typeface="Calibri"/>
              </a:rPr>
              <a:t>ML6 CHALLENGE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876240" y="447444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1152360" y="4331520"/>
            <a:ext cx="1091160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Pure clustering was weak — the raw sensor space does not separate the failure types.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876240" y="509832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1152360" y="4955400"/>
            <a:ext cx="115009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Using the labeled failures helped, but performance improved most after </a:t>
            </a: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feature selection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8"/>
          <p:cNvSpPr/>
          <p:nvPr/>
        </p:nvSpPr>
        <p:spPr>
          <a:xfrm>
            <a:off x="876240" y="572220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1152360" y="5579280"/>
            <a:ext cx="732492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Random Forest on the top 5 sensors 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was the best model.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876240" y="634608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1152360" y="6203160"/>
            <a:ext cx="12183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The final model produced </a:t>
            </a: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524 high-confidence predictions 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(confidence ≥ 0.7) for expert review.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876240" y="6969960"/>
            <a:ext cx="84960" cy="84960"/>
          </a:xfrm>
          <a:prstGeom prst="ellipse">
            <a:avLst/>
          </a:prstGeom>
          <a:solidFill>
            <a:srgbClr val="1f77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3"/>
          <p:cNvSpPr/>
          <p:nvPr/>
        </p:nvSpPr>
        <p:spPr>
          <a:xfrm>
            <a:off x="1152360" y="6827040"/>
            <a:ext cx="11058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7222" lnSpcReduction="10000"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Best framed as a practical </a:t>
            </a:r>
            <a:r>
              <a:rPr b="1" lang="en-US" sz="2250" spc="-1" strike="noStrike">
                <a:solidFill>
                  <a:srgbClr val="16222e"/>
                </a:solidFill>
                <a:latin typeface="Calibri"/>
                <a:ea typeface="Calibri"/>
              </a:rPr>
              <a:t>review workflow </a:t>
            </a:r>
            <a:r>
              <a:rPr b="0" lang="en-US" sz="2250" spc="-1" strike="noStrike">
                <a:solidFill>
                  <a:srgbClr val="3a4654"/>
                </a:solidFill>
                <a:latin typeface="Calibri"/>
                <a:ea typeface="Calibri"/>
              </a:rPr>
              <a:t>that improves as more labels are collected.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2026-06-30T18:45:11Z</dcterms:created>
  <dc:creator>PptxGenJS</dc:creator>
  <dc:description/>
  <dc:language>en-US</dc:language>
  <cp:lastModifiedBy/>
  <dcterms:modified xsi:type="dcterms:W3CDTF">2026-07-01T12:43:25Z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