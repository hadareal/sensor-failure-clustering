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many machine failure events, very few expert labels, and a need to make the unlabeled data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low-label problem. The goal is not perfect automation, but a useful workflow for failure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analysis flow: explore with clustering, use the labels, improve the representation with feature selection, challenge the semi-supervised assumption against supervised models, then select the final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is exploratory, not proof by itself. Combined with weak clustering scores, it suggests pure clustering is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stronger models are only moderate on all 20 sensors, so the feature space itself is probably noisy.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sensor I measured how far apart the class means are on the labeled data, then took the top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selection clearly helps across all model families. We have not yet tested a fully supervised classifier — does the semi-supervised approach add value?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trained on 39 samples per LOO fold outperforms Label Spreading trained on all 1,600. The semi-supervised framing was not necessary; the top-5 sensors are discriminative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gives both labels and calibrated confidence. The 0.7 threshold surfaces 524 predictions at 85.7% LOO accuracy; 0.8 gives 237 at 100%. Indicative until validated on more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solution as a decision-support tool for failure analysis teams: faster review, more consistent labeling, gradual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Validate the PoC, run a pilot with experts in the loop, then productionize and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over-claim 72.5%. Treat it as a promising signal, not a production-ready metric. A majority-class baseline already reaches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on the top-5 sensors delivered the best accuracy and best confidence calibration — a practical workflow for failure triage that improves as more labels are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914400" y="1853357"/>
            <a:ext cx="18105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75" kern="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2462957"/>
            <a:ext cx="14716125" cy="1734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300" b="1" spc="-112" kern="0" dirty="0">
                <a:solidFill>
                  <a:srgbClr val="131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Failure Classification from Sensor Data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14400" y="4482852"/>
            <a:ext cx="1157668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proof of concept for labeling 1,560 unlabeled failures using only 40 labeled examples.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052393"/>
            <a:ext cx="2857500" cy="1371600"/>
          </a:xfrm>
          <a:prstGeom prst="roundRect">
            <a:avLst>
              <a:gd name="adj" fmla="val 8333"/>
            </a:avLst>
          </a:prstGeom>
          <a:solidFill>
            <a:srgbClr val="F6F7FA"/>
          </a:solidFill>
          <a:ln w="9525">
            <a:solidFill>
              <a:srgbClr val="E5E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7775" y="6309568"/>
            <a:ext cx="24098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1,600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247775" y="6862018"/>
            <a:ext cx="2409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events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43350" y="6052393"/>
            <a:ext cx="2857500" cy="1371600"/>
          </a:xfrm>
          <a:prstGeom prst="roundRect">
            <a:avLst>
              <a:gd name="adj" fmla="val 8333"/>
            </a:avLst>
          </a:prstGeom>
          <a:solidFill>
            <a:srgbClr val="F6F7FA"/>
          </a:solidFill>
          <a:ln w="9525">
            <a:solidFill>
              <a:srgbClr val="E5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6725" y="6309568"/>
            <a:ext cx="24098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4276725" y="6862018"/>
            <a:ext cx="2409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each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72300" y="6052393"/>
            <a:ext cx="2857500" cy="1371600"/>
          </a:xfrm>
          <a:prstGeom prst="roundRect">
            <a:avLst>
              <a:gd name="adj" fmla="val 8333"/>
            </a:avLst>
          </a:prstGeom>
          <a:solidFill>
            <a:srgbClr val="F6F7FA"/>
          </a:solidFill>
          <a:ln w="9525">
            <a:solidFill>
              <a:srgbClr val="E5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05675" y="6309568"/>
            <a:ext cx="24098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7305675" y="6862018"/>
            <a:ext cx="24098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8109793"/>
            <a:ext cx="18105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5" kern="0" dirty="0">
                <a:solidFill>
                  <a:srgbClr val="3A3F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Hadar Eliyahu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417102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Goal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380940" y="885825"/>
            <a:ext cx="2233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4238774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8" name="Text 6"/>
          <p:cNvSpPr/>
          <p:nvPr/>
        </p:nvSpPr>
        <p:spPr>
          <a:xfrm>
            <a:off x="1152525" y="4086374"/>
            <a:ext cx="13033683" cy="48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 machine failure events, each represented by 20 sensor measurements.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76300" y="4975920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0" name="Text 8"/>
          <p:cNvSpPr/>
          <p:nvPr/>
        </p:nvSpPr>
        <p:spPr>
          <a:xfrm>
            <a:off x="1152525" y="4823520"/>
            <a:ext cx="9725412" cy="48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failures are labeled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the remaining 1,560 are unlabeled.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76300" y="5713065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2" name="Text 10"/>
          <p:cNvSpPr/>
          <p:nvPr/>
        </p:nvSpPr>
        <p:spPr>
          <a:xfrm>
            <a:off x="1152525" y="5560665"/>
            <a:ext cx="9462492" cy="48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label space in the labeled set: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machine failure types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76300" y="6450211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525" y="6297811"/>
            <a:ext cx="15007873" cy="48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labels to the unlabeled failures and surface a high-confidence subset for expert review.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76300" y="7187357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525" y="7034957"/>
            <a:ext cx="12559739" cy="48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criterion for the PoC: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review workflow, not perfect classification.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4287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80962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609600"/>
            <a:ext cx="522499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Overview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380940" y="752475"/>
            <a:ext cx="2233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57500" y="3181350"/>
            <a:ext cx="514350" cy="514350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8" name="Text 6"/>
          <p:cNvSpPr/>
          <p:nvPr/>
        </p:nvSpPr>
        <p:spPr>
          <a:xfrm>
            <a:off x="2819400" y="318135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619500" y="3092053"/>
            <a:ext cx="987913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data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3619500" y="3463528"/>
            <a:ext cx="9879137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unsupervised clustering to check whether failure types naturally separate.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2498884" y="3880247"/>
            <a:ext cx="135474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9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2857500" y="4312444"/>
            <a:ext cx="514350" cy="514350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3" name="Text 11"/>
          <p:cNvSpPr/>
          <p:nvPr/>
        </p:nvSpPr>
        <p:spPr>
          <a:xfrm>
            <a:off x="2819400" y="4312444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619500" y="4223147"/>
            <a:ext cx="118868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available labels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3619500" y="4594622"/>
            <a:ext cx="11886887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clustering proved weak, evaluate label-guided approaches using the 40 expert-labeled failures.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2498884" y="5011341"/>
            <a:ext cx="135474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9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2857500" y="5443538"/>
            <a:ext cx="514350" cy="514350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8" name="Text 16"/>
          <p:cNvSpPr/>
          <p:nvPr/>
        </p:nvSpPr>
        <p:spPr>
          <a:xfrm>
            <a:off x="2819400" y="5443538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3619500" y="5354241"/>
            <a:ext cx="832208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 representation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3619500" y="5725716"/>
            <a:ext cx="8322082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the feature space by selecting the most discriminative sensors.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2498884" y="6142434"/>
            <a:ext cx="135474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9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2857500" y="6574631"/>
            <a:ext cx="514350" cy="514350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23" name="Text 21"/>
          <p:cNvSpPr/>
          <p:nvPr/>
        </p:nvSpPr>
        <p:spPr>
          <a:xfrm>
            <a:off x="2819400" y="657463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3619500" y="6485334"/>
            <a:ext cx="125286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the assumption</a:t>
            </a:r>
            <a:endParaRPr lang="en-US" sz="2325" dirty="0"/>
          </a:p>
        </p:txBody>
      </p:sp>
      <p:sp>
        <p:nvSpPr>
          <p:cNvPr id="25" name="Text 23"/>
          <p:cNvSpPr/>
          <p:nvPr/>
        </p:nvSpPr>
        <p:spPr>
          <a:xfrm>
            <a:off x="3619500" y="6856809"/>
            <a:ext cx="12528634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supervised and semi-supervised models on the selected features using the same LOO evaluation.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2498884" y="7273528"/>
            <a:ext cx="135474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9B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2857500" y="7705725"/>
            <a:ext cx="514350" cy="514350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28" name="Text 26"/>
          <p:cNvSpPr/>
          <p:nvPr/>
        </p:nvSpPr>
        <p:spPr>
          <a:xfrm>
            <a:off x="2819400" y="7705725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3619500" y="7616428"/>
            <a:ext cx="94575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final solution</a:t>
            </a:r>
            <a:endParaRPr lang="en-US" sz="2325" dirty="0"/>
          </a:p>
        </p:txBody>
      </p:sp>
      <p:sp>
        <p:nvSpPr>
          <p:cNvPr id="30" name="Text 28"/>
          <p:cNvSpPr/>
          <p:nvPr/>
        </p:nvSpPr>
        <p:spPr>
          <a:xfrm>
            <a:off x="3619500" y="7987903"/>
            <a:ext cx="9457581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5B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best-performing model and apply it to classify the unlabeled failures.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692235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Clustering Was Weak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380940" y="885825"/>
            <a:ext cx="2233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2420094"/>
            <a:ext cx="8940850" cy="6675537"/>
          </a:xfrm>
          <a:prstGeom prst="roundRect">
            <a:avLst>
              <a:gd name="adj" fmla="val 1712"/>
            </a:avLst>
          </a:prstGeom>
          <a:ln w="9525">
            <a:solidFill>
              <a:srgbClr val="E5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2429619"/>
            <a:ext cx="8921800" cy="66564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74350" y="3738860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0" name="Text 7"/>
          <p:cNvSpPr/>
          <p:nvPr/>
        </p:nvSpPr>
        <p:spPr>
          <a:xfrm>
            <a:off x="10531525" y="3605510"/>
            <a:ext cx="7086581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on the labeled failures shows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clean separation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the 3 labels.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10274350" y="479702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2" name="Text 9"/>
          <p:cNvSpPr/>
          <p:nvPr/>
        </p:nvSpPr>
        <p:spPr>
          <a:xfrm>
            <a:off x="10531525" y="4663678"/>
            <a:ext cx="7086581" cy="12586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baselines gave very low silhouette scores: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0.035, Agglomerative 0.012, GMM 0.028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274350" y="626521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4" name="Text 11"/>
          <p:cNvSpPr/>
          <p:nvPr/>
        </p:nvSpPr>
        <p:spPr>
          <a:xfrm>
            <a:off x="10531525" y="6131868"/>
            <a:ext cx="7086581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20-sensor space is not naturally separable with pure clustering.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10274350" y="7247186"/>
            <a:ext cx="735147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8A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scores near 0 indicate the data does not split into distinct clusters in the original sensor space.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629877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Label-Guided Baselines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380940" y="885825"/>
            <a:ext cx="2233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4419600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8" name="Text 6"/>
          <p:cNvSpPr/>
          <p:nvPr/>
        </p:nvSpPr>
        <p:spPr>
          <a:xfrm>
            <a:off x="1133475" y="4286250"/>
            <a:ext cx="738274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used the 40 labeled failures to evaluate label-guided models.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876300" y="5495925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0" name="Text 8"/>
          <p:cNvSpPr/>
          <p:nvPr/>
        </p:nvSpPr>
        <p:spPr>
          <a:xfrm>
            <a:off x="1133475" y="5362575"/>
            <a:ext cx="738274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models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satisfactory performance — all scored below 0.5.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876300" y="6581775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475" y="6448425"/>
            <a:ext cx="738274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sensors may add noise rather than useful information.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8872686" y="4186238"/>
            <a:ext cx="8539014" cy="3200400"/>
          </a:xfrm>
          <a:prstGeom prst="roundRect">
            <a:avLst>
              <a:gd name="adj" fmla="val 4167"/>
            </a:avLst>
          </a:prstGeom>
          <a:solidFill>
            <a:srgbClr val="F6F7FA"/>
          </a:solidFill>
          <a:ln w="9525">
            <a:solidFill>
              <a:srgbClr val="E5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4161" y="4519613"/>
            <a:ext cx="85756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LEAVE-ONE-OUT ACCURACY · 40 LABELED FAILURES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44161" y="5053013"/>
            <a:ext cx="24098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1625411" y="5086350"/>
            <a:ext cx="4424214" cy="266700"/>
          </a:xfrm>
          <a:prstGeom prst="roundRect">
            <a:avLst>
              <a:gd name="adj" fmla="val 14286"/>
            </a:avLst>
          </a:prstGeom>
          <a:solidFill>
            <a:srgbClr val="E8EA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5411" y="5086350"/>
            <a:ext cx="2035076" cy="266700"/>
          </a:xfrm>
          <a:prstGeom prst="roundRect">
            <a:avLst>
              <a:gd name="adj" fmla="val 14286"/>
            </a:avLst>
          </a:prstGeom>
          <a:solidFill>
            <a:srgbClr val="B9BDCC"/>
          </a:solidFill>
          <a:ln/>
        </p:spPr>
      </p:sp>
      <p:sp>
        <p:nvSpPr>
          <p:cNvPr id="18" name="Text 16"/>
          <p:cNvSpPr/>
          <p:nvPr/>
        </p:nvSpPr>
        <p:spPr>
          <a:xfrm>
            <a:off x="16163925" y="5062538"/>
            <a:ext cx="876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517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0.23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244161" y="5614988"/>
            <a:ext cx="24098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Centroid-based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625411" y="5648325"/>
            <a:ext cx="4424214" cy="266700"/>
          </a:xfrm>
          <a:prstGeom prst="roundRect">
            <a:avLst>
              <a:gd name="adj" fmla="val 14286"/>
            </a:avLst>
          </a:prstGeom>
          <a:solidFill>
            <a:srgbClr val="E8EA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5411" y="5648325"/>
            <a:ext cx="2919859" cy="266700"/>
          </a:xfrm>
          <a:prstGeom prst="roundRect">
            <a:avLst>
              <a:gd name="adj" fmla="val 14286"/>
            </a:avLst>
          </a:prstGeom>
          <a:solidFill>
            <a:srgbClr val="B9BDCC"/>
          </a:solidFill>
          <a:ln/>
        </p:spPr>
      </p:sp>
      <p:sp>
        <p:nvSpPr>
          <p:cNvPr id="22" name="Text 20"/>
          <p:cNvSpPr/>
          <p:nvPr/>
        </p:nvSpPr>
        <p:spPr>
          <a:xfrm>
            <a:off x="16163925" y="5624513"/>
            <a:ext cx="876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517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9244161" y="6176963"/>
            <a:ext cx="24098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Spreading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1625411" y="6210300"/>
            <a:ext cx="4424214" cy="266700"/>
          </a:xfrm>
          <a:prstGeom prst="roundRect">
            <a:avLst>
              <a:gd name="adj" fmla="val 14286"/>
            </a:avLst>
          </a:prstGeom>
          <a:solidFill>
            <a:srgbClr val="E8EA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25411" y="6210300"/>
            <a:ext cx="3760440" cy="266700"/>
          </a:xfrm>
          <a:prstGeom prst="roundRect">
            <a:avLst>
              <a:gd name="adj" fmla="val 14286"/>
            </a:avLst>
          </a:prstGeom>
          <a:solidFill>
            <a:srgbClr val="B9BDCC"/>
          </a:solidFill>
          <a:ln/>
        </p:spPr>
      </p:sp>
      <p:sp>
        <p:nvSpPr>
          <p:cNvPr id="26" name="Text 24"/>
          <p:cNvSpPr/>
          <p:nvPr/>
        </p:nvSpPr>
        <p:spPr>
          <a:xfrm>
            <a:off x="16163925" y="6186488"/>
            <a:ext cx="876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1517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0.425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9244161" y="6748463"/>
            <a:ext cx="24098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kNN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11625411" y="6762750"/>
            <a:ext cx="4424214" cy="266700"/>
          </a:xfrm>
          <a:prstGeom prst="roundRect">
            <a:avLst>
              <a:gd name="adj" fmla="val 14286"/>
            </a:avLst>
          </a:prstGeom>
          <a:solidFill>
            <a:srgbClr val="E8EAF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625411" y="6762750"/>
            <a:ext cx="3981748" cy="266700"/>
          </a:xfrm>
          <a:prstGeom prst="roundRect">
            <a:avLst>
              <a:gd name="adj" fmla="val 14286"/>
            </a:avLst>
          </a:prstGeom>
          <a:solidFill>
            <a:srgbClr val="2070B0"/>
          </a:solidFill>
          <a:ln/>
        </p:spPr>
      </p:sp>
      <p:sp>
        <p:nvSpPr>
          <p:cNvPr id="30" name="Text 28"/>
          <p:cNvSpPr/>
          <p:nvPr/>
        </p:nvSpPr>
        <p:spPr>
          <a:xfrm>
            <a:off x="16163925" y="6738938"/>
            <a:ext cx="876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462729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380940" y="885825"/>
            <a:ext cx="2233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3394323"/>
            <a:ext cx="9523512" cy="4727079"/>
          </a:xfrm>
          <a:prstGeom prst="roundRect">
            <a:avLst>
              <a:gd name="adj" fmla="val 2418"/>
            </a:avLst>
          </a:prstGeom>
          <a:ln w="9525">
            <a:solidFill>
              <a:srgbClr val="E5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3403848"/>
            <a:ext cx="9504462" cy="470802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857012" y="4386263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0" name="Text 7"/>
          <p:cNvSpPr/>
          <p:nvPr/>
        </p:nvSpPr>
        <p:spPr>
          <a:xfrm>
            <a:off x="11114187" y="4252913"/>
            <a:ext cx="648643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ranked sensors by how much their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values differ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known labels.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10857012" y="548163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2" name="Text 9"/>
          <p:cNvSpPr/>
          <p:nvPr/>
        </p:nvSpPr>
        <p:spPr>
          <a:xfrm>
            <a:off x="11114187" y="5348288"/>
            <a:ext cx="648643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sensors: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9, Sensor 0, Sensor 8, Sensor 18, Sensor 2.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857012" y="656748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4" name="Text 11"/>
          <p:cNvSpPr/>
          <p:nvPr/>
        </p:nvSpPr>
        <p:spPr>
          <a:xfrm>
            <a:off x="11114187" y="6434138"/>
            <a:ext cx="648643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reduce noise and keep the sensors with the strongest label signal.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5008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3818840" y="885825"/>
            <a:ext cx="39521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20 vs TOP 5 SENSORS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3175843"/>
            <a:ext cx="9386888" cy="5164038"/>
          </a:xfrm>
          <a:prstGeom prst="roundRect">
            <a:avLst>
              <a:gd name="adj" fmla="val 2213"/>
            </a:avLst>
          </a:prstGeom>
          <a:ln w="9525">
            <a:solidFill>
              <a:srgbClr val="E5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3185368"/>
            <a:ext cx="9367838" cy="51449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720388" y="398933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0" name="Text 7"/>
          <p:cNvSpPr/>
          <p:nvPr/>
        </p:nvSpPr>
        <p:spPr>
          <a:xfrm>
            <a:off x="10977563" y="3865513"/>
            <a:ext cx="6627162" cy="85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improved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model families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10720388" y="5037981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2" name="Text 9"/>
          <p:cNvSpPr/>
          <p:nvPr/>
        </p:nvSpPr>
        <p:spPr>
          <a:xfrm>
            <a:off x="10977563" y="4914156"/>
            <a:ext cx="3519294" cy="44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Centroid: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0.33 →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0.475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720388" y="5676602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7563" y="5552777"/>
            <a:ext cx="4304124" cy="44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kNN: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 →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0.475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10720388" y="6315224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7563" y="6191399"/>
            <a:ext cx="4723061" cy="44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Spreading: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0.425 →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0.525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0720388" y="6953845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7563" y="6830020"/>
            <a:ext cx="6627162" cy="85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semi-supervised model: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Spreading (0.525)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supervised baselines tested next.</a:t>
            </a:r>
            <a:endParaRPr lang="en-US" sz="21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574461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Baselines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3974961" y="885825"/>
            <a:ext cx="37804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MISSING COMPARISON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2057400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8" name="Text 6"/>
          <p:cNvSpPr/>
          <p:nvPr/>
        </p:nvSpPr>
        <p:spPr>
          <a:xfrm>
            <a:off x="1133475" y="1933575"/>
            <a:ext cx="1451991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finalizing model selection, I tested fully supervised classifiers on the top-5 sensors using the same leave-one-out protocol.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76300" y="3020318"/>
            <a:ext cx="16535400" cy="2371725"/>
          </a:xfrm>
          <a:prstGeom prst="roundRect">
            <a:avLst>
              <a:gd name="adj" fmla="val 5622"/>
            </a:avLst>
          </a:prstGeom>
          <a:solidFill>
            <a:srgbClr val="F6F7FA"/>
          </a:solidFill>
          <a:ln w="9525">
            <a:solidFill>
              <a:srgbClr val="E5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5825" y="3715643"/>
            <a:ext cx="1651635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11" name="Text 9"/>
          <p:cNvSpPr/>
          <p:nvPr/>
        </p:nvSpPr>
        <p:spPr>
          <a:xfrm>
            <a:off x="1209675" y="3220343"/>
            <a:ext cx="607138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84146" y="3220343"/>
            <a:ext cx="37946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75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33833" y="3220343"/>
            <a:ext cx="37946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75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 ACC.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83505" y="3220343"/>
            <a:ext cx="379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75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 F1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5825" y="3725168"/>
            <a:ext cx="16516350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85825" y="4572893"/>
            <a:ext cx="16516350" cy="9525"/>
          </a:xfrm>
          <a:prstGeom prst="rect">
            <a:avLst/>
          </a:prstGeom>
          <a:solidFill>
            <a:srgbClr val="EBEDF2"/>
          </a:solidFill>
          <a:ln/>
        </p:spPr>
      </p:sp>
      <p:sp>
        <p:nvSpPr>
          <p:cNvPr id="17" name="Text 15"/>
          <p:cNvSpPr/>
          <p:nvPr/>
        </p:nvSpPr>
        <p:spPr>
          <a:xfrm>
            <a:off x="1209675" y="3953768"/>
            <a:ext cx="607138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6384146" y="3953768"/>
            <a:ext cx="379465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325" dirty="0">
                <a:solidFill>
                  <a:srgbClr val="3A3F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0.600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9833833" y="3953768"/>
            <a:ext cx="379465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325" dirty="0">
                <a:solidFill>
                  <a:srgbClr val="3A3F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0.550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13283505" y="3953768"/>
            <a:ext cx="379482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325" dirty="0">
                <a:solidFill>
                  <a:srgbClr val="3A3F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0.564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885825" y="4582418"/>
            <a:ext cx="16516350" cy="800100"/>
          </a:xfrm>
          <a:prstGeom prst="rect">
            <a:avLst/>
          </a:prstGeom>
          <a:solidFill>
            <a:srgbClr val="E6EFF5"/>
          </a:solidFill>
          <a:ln/>
        </p:spPr>
      </p:sp>
      <p:sp>
        <p:nvSpPr>
          <p:cNvPr id="22" name="Text 20"/>
          <p:cNvSpPr/>
          <p:nvPr/>
        </p:nvSpPr>
        <p:spPr>
          <a:xfrm>
            <a:off x="1209675" y="4811018"/>
            <a:ext cx="60713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</a:t>
            </a:r>
            <a:pPr algn="l" indent="0" marL="0">
              <a:buNone/>
            </a:pPr>
            <a:r>
              <a:rPr lang="en-US" sz="1800" b="1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6384146" y="4811018"/>
            <a:ext cx="37946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325" b="1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0.725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9833833" y="4811018"/>
            <a:ext cx="37946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325" b="1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0.717</a:t>
            </a:r>
            <a:endParaRPr lang="en-US" sz="2325" dirty="0"/>
          </a:p>
        </p:txBody>
      </p:sp>
      <p:sp>
        <p:nvSpPr>
          <p:cNvPr id="25" name="Text 23"/>
          <p:cNvSpPr/>
          <p:nvPr/>
        </p:nvSpPr>
        <p:spPr>
          <a:xfrm>
            <a:off x="13283505" y="4811018"/>
            <a:ext cx="37948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325" b="1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0.723</a:t>
            </a:r>
            <a:endParaRPr lang="en-US" sz="2325" dirty="0"/>
          </a:p>
        </p:txBody>
      </p:sp>
      <p:sp>
        <p:nvSpPr>
          <p:cNvPr id="26" name="Shape 24"/>
          <p:cNvSpPr/>
          <p:nvPr/>
        </p:nvSpPr>
        <p:spPr>
          <a:xfrm>
            <a:off x="876300" y="580161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27" name="Text 25"/>
          <p:cNvSpPr/>
          <p:nvPr/>
        </p:nvSpPr>
        <p:spPr>
          <a:xfrm>
            <a:off x="1133475" y="5677793"/>
            <a:ext cx="816262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outperformed Label Spreading (0.525)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metric.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76300" y="636924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29" name="Text 27"/>
          <p:cNvSpPr/>
          <p:nvPr/>
        </p:nvSpPr>
        <p:spPr>
          <a:xfrm>
            <a:off x="1133475" y="6245423"/>
            <a:ext cx="1395226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achieved the </a:t>
            </a:r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observed LOO performance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was selected as the final model.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32683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3662571" y="885825"/>
            <a:ext cx="412404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1,560 UNLABELED FAILURES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3430042"/>
            <a:ext cx="9386888" cy="4655493"/>
          </a:xfrm>
          <a:prstGeom prst="roundRect">
            <a:avLst>
              <a:gd name="adj" fmla="val 2455"/>
            </a:avLst>
          </a:prstGeom>
          <a:ln w="9525">
            <a:solidFill>
              <a:srgbClr val="E5E7EE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3439567"/>
            <a:ext cx="9367838" cy="46364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720388" y="412268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0" name="Text 7"/>
          <p:cNvSpPr/>
          <p:nvPr/>
        </p:nvSpPr>
        <p:spPr>
          <a:xfrm>
            <a:off x="10977563" y="3998863"/>
            <a:ext cx="6627162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model: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trained on 40 labeled failures (top 5 sensors).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10720388" y="5161806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2" name="Text 9"/>
          <p:cNvSpPr/>
          <p:nvPr/>
        </p:nvSpPr>
        <p:spPr>
          <a:xfrm>
            <a:off x="10977563" y="5037981"/>
            <a:ext cx="6458888" cy="44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labels to all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1,560 unlabeled failures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720388" y="5800427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7563" y="5676602"/>
            <a:ext cx="6627162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524 high-confidence predictions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(confidence ≥ 0.7).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10720388" y="6839545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7563" y="6715720"/>
            <a:ext cx="6627162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 can choose the confidence threshold based on their workflow.</a:t>
            </a:r>
            <a:endParaRPr lang="en-US" sz="21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607842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for the Customer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380940" y="885825"/>
            <a:ext cx="2233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436393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8" name="Text 6"/>
          <p:cNvSpPr/>
          <p:nvPr/>
        </p:nvSpPr>
        <p:spPr>
          <a:xfrm>
            <a:off x="1152525" y="4221063"/>
            <a:ext cx="15029646" cy="475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customer: </a:t>
            </a:r>
            <a:pPr algn="l" indent="0" marL="0">
              <a:lnSpc>
                <a:spcPct val="145000"/>
              </a:lnSpc>
              <a:buNone/>
            </a:pPr>
            <a:r>
              <a:rPr lang="en-US" sz="23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manufacturer with many machine failure logs and limited expert review capacity.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876300" y="5030093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0" name="Text 8"/>
          <p:cNvSpPr/>
          <p:nvPr/>
        </p:nvSpPr>
        <p:spPr>
          <a:xfrm>
            <a:off x="1152525" y="4887218"/>
            <a:ext cx="11312426" cy="475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3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can suggest a likely </a:t>
            </a:r>
            <a:pPr algn="l" indent="0" marL="0">
              <a:lnSpc>
                <a:spcPct val="145000"/>
              </a:lnSpc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type </a:t>
            </a:r>
            <a:pPr algn="l" indent="0" marL="0">
              <a:lnSpc>
                <a:spcPct val="145000"/>
              </a:lnSpc>
              <a:buNone/>
            </a:pPr>
            <a:r>
              <a:rPr lang="en-US" sz="23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new machine breakdown.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876300" y="5696248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2" name="Text 10"/>
          <p:cNvSpPr/>
          <p:nvPr/>
        </p:nvSpPr>
        <p:spPr>
          <a:xfrm>
            <a:off x="1152525" y="5553373"/>
            <a:ext cx="11944023" cy="475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3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High-confidence cases can be handled faster, while uncertain cases go to </a:t>
            </a:r>
            <a:pPr algn="l" indent="0" marL="0">
              <a:lnSpc>
                <a:spcPct val="145000"/>
              </a:lnSpc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</a:t>
            </a:r>
            <a:pPr algn="l" indent="0" marL="0">
              <a:lnSpc>
                <a:spcPct val="145000"/>
              </a:lnSpc>
              <a:buNone/>
            </a:pPr>
            <a:r>
              <a:rPr lang="en-US" sz="23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876300" y="6362402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525" y="6219527"/>
            <a:ext cx="9622929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3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 do not need to manually review every failure from scratch.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876300" y="7019032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525" y="6876157"/>
            <a:ext cx="10306095" cy="475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3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time, reviewed cases become </a:t>
            </a:r>
            <a:pPr algn="l" indent="0" marL="0">
              <a:lnSpc>
                <a:spcPct val="145000"/>
              </a:lnSpc>
              <a:buNone/>
            </a:pPr>
            <a:r>
              <a:rPr lang="en-US" sz="232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labels </a:t>
            </a:r>
            <a:pPr algn="l" indent="0" marL="0">
              <a:lnSpc>
                <a:spcPct val="145000"/>
              </a:lnSpc>
              <a:buNone/>
            </a:pPr>
            <a:r>
              <a:rPr lang="en-US" sz="232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improve the model.</a:t>
            </a:r>
            <a:endParaRPr lang="en-US" sz="23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25412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380940" y="885825"/>
            <a:ext cx="2233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2009775"/>
            <a:ext cx="5359301" cy="7534275"/>
          </a:xfrm>
          <a:prstGeom prst="roundRect">
            <a:avLst>
              <a:gd name="adj" fmla="val 2488"/>
            </a:avLst>
          </a:prstGeom>
          <a:solidFill>
            <a:srgbClr val="F6F7FA"/>
          </a:solidFill>
          <a:ln w="9525">
            <a:solidFill>
              <a:srgbClr val="E5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0625" y="2343150"/>
            <a:ext cx="52037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90625" y="2743200"/>
            <a:ext cx="520371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PoC</a:t>
            </a:r>
            <a:endParaRPr lang="en-US" sz="2475" dirty="0"/>
          </a:p>
        </p:txBody>
      </p:sp>
      <p:sp>
        <p:nvSpPr>
          <p:cNvPr id="10" name="Shape 8"/>
          <p:cNvSpPr/>
          <p:nvPr/>
        </p:nvSpPr>
        <p:spPr>
          <a:xfrm>
            <a:off x="1190625" y="3476625"/>
            <a:ext cx="76200" cy="76200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11" name="Text 9"/>
          <p:cNvSpPr/>
          <p:nvPr/>
        </p:nvSpPr>
        <p:spPr>
          <a:xfrm>
            <a:off x="1419225" y="3352800"/>
            <a:ext cx="463711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 sample of predicted labels with domain experts.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90625" y="4360366"/>
            <a:ext cx="76200" cy="76200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13" name="Text 11"/>
          <p:cNvSpPr/>
          <p:nvPr/>
        </p:nvSpPr>
        <p:spPr>
          <a:xfrm>
            <a:off x="1419225" y="4236541"/>
            <a:ext cx="463711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the 0.7–0.8 confidence threshold is appropriate.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90625" y="5244108"/>
            <a:ext cx="76200" cy="76200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15" name="Text 13"/>
          <p:cNvSpPr/>
          <p:nvPr/>
        </p:nvSpPr>
        <p:spPr>
          <a:xfrm>
            <a:off x="1419225" y="5120283"/>
            <a:ext cx="463711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the feature set and reporting format.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464201" y="2009775"/>
            <a:ext cx="5359450" cy="7534275"/>
          </a:xfrm>
          <a:prstGeom prst="roundRect">
            <a:avLst>
              <a:gd name="adj" fmla="val 2488"/>
            </a:avLst>
          </a:prstGeom>
          <a:solidFill>
            <a:srgbClr val="F6F7FA"/>
          </a:solidFill>
          <a:ln w="9525">
            <a:solidFill>
              <a:srgbClr val="E5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78526" y="2343150"/>
            <a:ext cx="52038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78526" y="2743200"/>
            <a:ext cx="52038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a Real Workflow</a:t>
            </a:r>
            <a:endParaRPr lang="en-US" sz="2475" dirty="0"/>
          </a:p>
        </p:txBody>
      </p:sp>
      <p:sp>
        <p:nvSpPr>
          <p:cNvPr id="19" name="Shape 17"/>
          <p:cNvSpPr/>
          <p:nvPr/>
        </p:nvSpPr>
        <p:spPr>
          <a:xfrm>
            <a:off x="6778526" y="3476625"/>
            <a:ext cx="76200" cy="76200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20" name="Text 18"/>
          <p:cNvSpPr/>
          <p:nvPr/>
        </p:nvSpPr>
        <p:spPr>
          <a:xfrm>
            <a:off x="7007126" y="3352800"/>
            <a:ext cx="463726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incoming failures regularly and present predictions to experts.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778526" y="4360366"/>
            <a:ext cx="76200" cy="76200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22" name="Text 20"/>
          <p:cNvSpPr/>
          <p:nvPr/>
        </p:nvSpPr>
        <p:spPr>
          <a:xfrm>
            <a:off x="7007126" y="4236541"/>
            <a:ext cx="463726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expert agreement, review time, and confidence distribution.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778526" y="5244108"/>
            <a:ext cx="76200" cy="76200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24" name="Text 22"/>
          <p:cNvSpPr/>
          <p:nvPr/>
        </p:nvSpPr>
        <p:spPr>
          <a:xfrm>
            <a:off x="7007126" y="5120283"/>
            <a:ext cx="463726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corrected labels from expert feedback.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2052250" y="2009775"/>
            <a:ext cx="5359450" cy="7534275"/>
          </a:xfrm>
          <a:prstGeom prst="roundRect">
            <a:avLst>
              <a:gd name="adj" fmla="val 2488"/>
            </a:avLst>
          </a:prstGeom>
          <a:solidFill>
            <a:srgbClr val="F6F7FA"/>
          </a:solidFill>
          <a:ln w="9525">
            <a:solidFill>
              <a:srgbClr val="E5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66575" y="2343150"/>
            <a:ext cx="52038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66575" y="2743200"/>
            <a:ext cx="52038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Productionize &amp; Improve</a:t>
            </a:r>
            <a:endParaRPr lang="en-US" sz="2475" dirty="0"/>
          </a:p>
        </p:txBody>
      </p:sp>
      <p:sp>
        <p:nvSpPr>
          <p:cNvPr id="28" name="Shape 26"/>
          <p:cNvSpPr/>
          <p:nvPr/>
        </p:nvSpPr>
        <p:spPr>
          <a:xfrm>
            <a:off x="12366575" y="3476625"/>
            <a:ext cx="76200" cy="76200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29" name="Text 27"/>
          <p:cNvSpPr/>
          <p:nvPr/>
        </p:nvSpPr>
        <p:spPr>
          <a:xfrm>
            <a:off x="12595175" y="3352800"/>
            <a:ext cx="463726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periodically with the expanded labeled set.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366575" y="4360366"/>
            <a:ext cx="76200" cy="76200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31" name="Text 29"/>
          <p:cNvSpPr/>
          <p:nvPr/>
        </p:nvSpPr>
        <p:spPr>
          <a:xfrm>
            <a:off x="12595175" y="4236541"/>
            <a:ext cx="4637266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the customer's maintenance / failure analysis workflow.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571285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&amp; Next Steps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380940" y="885825"/>
            <a:ext cx="2233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6300" y="2009775"/>
            <a:ext cx="8780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CAVEATS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6300" y="2676525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9" name="Text 7"/>
          <p:cNvSpPr/>
          <p:nvPr/>
        </p:nvSpPr>
        <p:spPr>
          <a:xfrm>
            <a:off x="1133475" y="2543175"/>
            <a:ext cx="7956518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labeled set is very small: only 40 examples, with class counts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10 / 10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876300" y="3715643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1" name="Text 9"/>
          <p:cNvSpPr/>
          <p:nvPr/>
        </p:nvSpPr>
        <p:spPr>
          <a:xfrm>
            <a:off x="1133475" y="3582293"/>
            <a:ext cx="7956518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leave-one-out result should be treated as a useful but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check.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876300" y="4754761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3" name="Text 11"/>
          <p:cNvSpPr/>
          <p:nvPr/>
        </p:nvSpPr>
        <p:spPr>
          <a:xfrm>
            <a:off x="1133475" y="4621411"/>
            <a:ext cx="7956518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majority-class baseline would already reach </a:t>
            </a:r>
            <a:pPr algn="l" indent="0" marL="0">
              <a:lnSpc>
                <a:spcPct val="145000"/>
              </a:lnSpc>
              <a:buNone/>
            </a:pPr>
            <a:r>
              <a:rPr lang="en-US" sz="2175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</a:t>
            </a:r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on the labeled subset.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429750" y="2009775"/>
            <a:ext cx="878014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29750" y="2676525"/>
            <a:ext cx="85725" cy="85725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16" name="Text 14"/>
          <p:cNvSpPr/>
          <p:nvPr/>
        </p:nvSpPr>
        <p:spPr>
          <a:xfrm>
            <a:off x="9686925" y="2543175"/>
            <a:ext cx="5216813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predicted labels with experts.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9429750" y="3305621"/>
            <a:ext cx="85725" cy="85725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18" name="Text 16"/>
          <p:cNvSpPr/>
          <p:nvPr/>
        </p:nvSpPr>
        <p:spPr>
          <a:xfrm>
            <a:off x="9686925" y="3172271"/>
            <a:ext cx="5916677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more labels to grow the training set.</a:t>
            </a:r>
            <a:endParaRPr lang="en-US" sz="2175" dirty="0"/>
          </a:p>
        </p:txBody>
      </p:sp>
      <p:sp>
        <p:nvSpPr>
          <p:cNvPr id="19" name="Shape 17"/>
          <p:cNvSpPr/>
          <p:nvPr/>
        </p:nvSpPr>
        <p:spPr>
          <a:xfrm>
            <a:off x="9429750" y="3934718"/>
            <a:ext cx="85725" cy="85725"/>
          </a:xfrm>
          <a:prstGeom prst="ellipse">
            <a:avLst/>
          </a:prstGeom>
          <a:solidFill>
            <a:srgbClr val="B9BDCC"/>
          </a:solidFill>
          <a:ln/>
        </p:spPr>
      </p:sp>
      <p:sp>
        <p:nvSpPr>
          <p:cNvPr id="20" name="Text 18"/>
          <p:cNvSpPr/>
          <p:nvPr/>
        </p:nvSpPr>
        <p:spPr>
          <a:xfrm>
            <a:off x="9686925" y="3801368"/>
            <a:ext cx="7527593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75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 the model with a stronger validation setup.</a:t>
            </a:r>
            <a:endParaRPr lang="en-US" sz="21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162D">
                  <a:alpha val="3000"/>
                </a:srgbClr>
              </a:gs>
              <a:gs pos="100000">
                <a:srgbClr val="14162D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76300" y="1581150"/>
            <a:ext cx="16535400" cy="9525"/>
          </a:xfrm>
          <a:prstGeom prst="rect">
            <a:avLst/>
          </a:prstGeom>
          <a:solidFill>
            <a:srgbClr val="E5E7EE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942975"/>
            <a:ext cx="39632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07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05979" y="742950"/>
            <a:ext cx="254210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37" kern="0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15380940" y="885825"/>
            <a:ext cx="2233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9AA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ML6 CHALLENGE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6300" y="4426744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8" name="Text 6"/>
          <p:cNvSpPr/>
          <p:nvPr/>
        </p:nvSpPr>
        <p:spPr>
          <a:xfrm>
            <a:off x="1152525" y="4283869"/>
            <a:ext cx="1200950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clustering was weak — the raw sensor space does not separate the failure types.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876300" y="5050631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0" name="Text 8"/>
          <p:cNvSpPr/>
          <p:nvPr/>
        </p:nvSpPr>
        <p:spPr>
          <a:xfrm>
            <a:off x="1152525" y="4907756"/>
            <a:ext cx="12728034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labeled failures helped, but performance improved most after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876300" y="5684044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2" name="Text 10"/>
          <p:cNvSpPr/>
          <p:nvPr/>
        </p:nvSpPr>
        <p:spPr>
          <a:xfrm>
            <a:off x="1152525" y="5541169"/>
            <a:ext cx="8379708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on the top 5 sensors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the best model.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876300" y="6317456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525" y="6174581"/>
            <a:ext cx="13642687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model produced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524 high-confidence predictions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(confidence ≥ 0.7) for expert review.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876300" y="6950869"/>
            <a:ext cx="85725" cy="85725"/>
          </a:xfrm>
          <a:prstGeom prst="ellipse">
            <a:avLst/>
          </a:prstGeom>
          <a:solidFill>
            <a:srgbClr val="2070B0"/>
          </a:solidFill>
          <a:ln/>
        </p:spPr>
      </p:sp>
      <p:sp>
        <p:nvSpPr>
          <p:cNvPr id="16" name="Text 14"/>
          <p:cNvSpPr/>
          <p:nvPr/>
        </p:nvSpPr>
        <p:spPr>
          <a:xfrm>
            <a:off x="1152525" y="6807994"/>
            <a:ext cx="12289944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framed as a practical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151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workflow 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3A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improves as more labels are collected.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2026-06-29T11:08:29Z</dcterms:created>
  <dcterms:modified xsi:type="dcterms:W3CDTF">2026-06-29T11:08:29Z</dcterms:modified>
</cp:coreProperties>
</file>